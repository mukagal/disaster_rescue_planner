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8" d="100"/>
          <a:sy n="98" d="100"/>
        </p:scale>
        <p:origin x="10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Nodes Explored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0F6-4384-80B2-D3C70FE64D04}"/>
              </c:ext>
            </c:extLst>
          </c:dPt>
          <c:dPt>
            <c:idx val="1"/>
            <c:invertIfNegative val="0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0F6-4384-80B2-D3C70FE64D04}"/>
              </c:ext>
            </c:extLst>
          </c:dPt>
          <c:dPt>
            <c:idx val="2"/>
            <c:invertIfNegative val="0"/>
            <c:bubble3D val="0"/>
            <c:spPr>
              <a:solidFill>
                <a:srgbClr val="2980B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0F6-4384-80B2-D3C70FE64D0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Haversine
(Admissible)</c:v>
                </c:pt>
                <c:pt idx="1">
                  <c:v>Euclidean
(Non-admissible)</c:v>
                </c:pt>
                <c:pt idx="2">
                  <c:v>Zero
(Dijkstra/UCS)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3316</c:v>
                </c:pt>
                <c:pt idx="1">
                  <c:v>1820</c:v>
                </c:pt>
                <c:pt idx="2">
                  <c:v>9100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0F6-4384-80B2-D3C70FE64D0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DC3C7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2C3E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DC3C7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213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0296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3280" cy="1920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45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🚑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" y="5486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DISASTER ZONE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RESCUE PLANNER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F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Pathfinding on Real OpenStreetMap Data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" y="16642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INF375 · Artificial Intelligence · Final Project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1440" y="20299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" y="2304288"/>
            <a:ext cx="3200400" cy="3657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239572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intelligent rescue agent that finds the most efficient path through a city during a disaster scenario with blocked roads and damaged intersections.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1440" y="32004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TECHNIQUES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" y="3474720"/>
            <a:ext cx="3200400" cy="3657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" y="3611880"/>
            <a:ext cx="3200400" cy="438912"/>
          </a:xfrm>
          <a:prstGeom prst="rect">
            <a:avLst/>
          </a:prstGeom>
          <a:solidFill>
            <a:srgbClr val="16213E"/>
          </a:solidFill>
          <a:ln w="6350">
            <a:solidFill>
              <a:srgbClr val="2C3E50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" y="3611880"/>
            <a:ext cx="54864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" y="363016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Search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01168" y="381304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f(n)=g(n)+h(n), optimal + complete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1440" y="4133088"/>
            <a:ext cx="3200400" cy="438912"/>
          </a:xfrm>
          <a:prstGeom prst="rect">
            <a:avLst/>
          </a:prstGeom>
          <a:solidFill>
            <a:srgbClr val="16213E"/>
          </a:solidFill>
          <a:ln w="6350">
            <a:solidFill>
              <a:srgbClr val="2C3E50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" y="4133088"/>
            <a:ext cx="54864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" y="415137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UCS / Dijkstra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01168" y="433425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heuristic baseline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91440" y="4654296"/>
            <a:ext cx="3200400" cy="438912"/>
          </a:xfrm>
          <a:prstGeom prst="rect">
            <a:avLst/>
          </a:prstGeom>
          <a:solidFill>
            <a:srgbClr val="16213E"/>
          </a:solidFill>
          <a:ln w="6350">
            <a:solidFill>
              <a:srgbClr val="2C3E50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440" y="4654296"/>
            <a:ext cx="54864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1168" y="467258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 h(n)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01168" y="485546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Admissible, never over-estimates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1440" y="5175504"/>
            <a:ext cx="3200400" cy="438912"/>
          </a:xfrm>
          <a:prstGeom prst="rect">
            <a:avLst/>
          </a:prstGeom>
          <a:solidFill>
            <a:srgbClr val="16213E"/>
          </a:solidFill>
          <a:ln w="6350">
            <a:solidFill>
              <a:srgbClr val="2C3E50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1440" y="5175504"/>
            <a:ext cx="54864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1168" y="519379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h(n)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01168" y="537667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Non-admissible, fewer nodes explored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91440" y="5696712"/>
            <a:ext cx="3200400" cy="438912"/>
          </a:xfrm>
          <a:prstGeom prst="rect">
            <a:avLst/>
          </a:prstGeom>
          <a:solidFill>
            <a:srgbClr val="16213E"/>
          </a:solidFill>
          <a:ln w="6350">
            <a:solidFill>
              <a:srgbClr val="2C3E50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1440" y="5696712"/>
            <a:ext cx="54864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1168" y="57150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Theory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01168" y="589788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weighted adjacency list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520440" y="1097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DATASET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520440" y="384048"/>
            <a:ext cx="4754880" cy="3657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20440" y="457200"/>
            <a:ext cx="1143000" cy="100584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632" y="502920"/>
            <a:ext cx="347472" cy="347472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3520440" y="85039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166,891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3520440" y="115214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Nodes</a:t>
            </a:r>
            <a:endParaRPr lang="en-US" sz="750" dirty="0"/>
          </a:p>
        </p:txBody>
      </p:sp>
      <p:sp>
        <p:nvSpPr>
          <p:cNvPr id="39" name="Shape 36"/>
          <p:cNvSpPr/>
          <p:nvPr/>
        </p:nvSpPr>
        <p:spPr>
          <a:xfrm>
            <a:off x="4718304" y="457200"/>
            <a:ext cx="1143000" cy="10058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4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1496" y="502920"/>
            <a:ext cx="347472" cy="347472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4718304" y="85039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20945</a:t>
            </a:r>
            <a:endParaRPr lang="en-US" sz="1500" dirty="0"/>
          </a:p>
        </p:txBody>
      </p:sp>
      <p:sp>
        <p:nvSpPr>
          <p:cNvPr id="42" name="Text 38"/>
          <p:cNvSpPr/>
          <p:nvPr/>
        </p:nvSpPr>
        <p:spPr>
          <a:xfrm>
            <a:off x="4718304" y="115214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Ways</a:t>
            </a:r>
            <a:endParaRPr lang="en-US" sz="750" dirty="0"/>
          </a:p>
        </p:txBody>
      </p:sp>
      <p:sp>
        <p:nvSpPr>
          <p:cNvPr id="43" name="Shape 39"/>
          <p:cNvSpPr/>
          <p:nvPr/>
        </p:nvSpPr>
        <p:spPr>
          <a:xfrm>
            <a:off x="5916168" y="457200"/>
            <a:ext cx="1143000" cy="1005840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4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502920"/>
            <a:ext cx="347472" cy="347472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5916168" y="85039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346,732</a:t>
            </a:r>
            <a:endParaRPr lang="en-US" sz="1500" dirty="0"/>
          </a:p>
        </p:txBody>
      </p:sp>
      <p:sp>
        <p:nvSpPr>
          <p:cNvPr id="46" name="Text 41"/>
          <p:cNvSpPr/>
          <p:nvPr/>
        </p:nvSpPr>
        <p:spPr>
          <a:xfrm>
            <a:off x="5916168" y="115214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Edges</a:t>
            </a:r>
            <a:endParaRPr lang="en-US" sz="750" dirty="0"/>
          </a:p>
        </p:txBody>
      </p:sp>
      <p:sp>
        <p:nvSpPr>
          <p:cNvPr id="47" name="Shape 42"/>
          <p:cNvSpPr/>
          <p:nvPr/>
        </p:nvSpPr>
        <p:spPr>
          <a:xfrm>
            <a:off x="7114032" y="457200"/>
            <a:ext cx="1143000" cy="1005840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4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7224" y="502920"/>
            <a:ext cx="347472" cy="347472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7114032" y="85039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 err="1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Qaskelen</a:t>
            </a:r>
            <a:endParaRPr lang="en-US" sz="1500" dirty="0"/>
          </a:p>
        </p:txBody>
      </p:sp>
      <p:sp>
        <p:nvSpPr>
          <p:cNvPr id="50" name="Text 44"/>
          <p:cNvSpPr/>
          <p:nvPr/>
        </p:nvSpPr>
        <p:spPr>
          <a:xfrm>
            <a:off x="7114032" y="115214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 Source</a:t>
            </a:r>
            <a:endParaRPr lang="en-US" sz="750" dirty="0"/>
          </a:p>
        </p:txBody>
      </p:sp>
      <p:sp>
        <p:nvSpPr>
          <p:cNvPr id="51" name="Text 45"/>
          <p:cNvSpPr/>
          <p:nvPr/>
        </p:nvSpPr>
        <p:spPr>
          <a:xfrm>
            <a:off x="3520440" y="16002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A* WORKS</a:t>
            </a:r>
            <a:endParaRPr lang="en-US" sz="1100" dirty="0"/>
          </a:p>
        </p:txBody>
      </p:sp>
      <p:sp>
        <p:nvSpPr>
          <p:cNvPr id="52" name="Shape 46"/>
          <p:cNvSpPr/>
          <p:nvPr/>
        </p:nvSpPr>
        <p:spPr>
          <a:xfrm>
            <a:off x="3520440" y="1874520"/>
            <a:ext cx="4754880" cy="3657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3520440" y="1938528"/>
            <a:ext cx="4754880" cy="594360"/>
          </a:xfrm>
          <a:prstGeom prst="rect">
            <a:avLst/>
          </a:prstGeom>
          <a:solidFill>
            <a:srgbClr val="16213E"/>
          </a:solidFill>
          <a:ln w="6350">
            <a:solidFill>
              <a:srgbClr val="2C3E50"/>
            </a:solidFill>
            <a:prstDash val="solid"/>
          </a:ln>
        </p:spPr>
      </p:sp>
      <p:sp>
        <p:nvSpPr>
          <p:cNvPr id="54" name="Text 48"/>
          <p:cNvSpPr/>
          <p:nvPr/>
        </p:nvSpPr>
        <p:spPr>
          <a:xfrm>
            <a:off x="3520440" y="195681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f(n) = g(n) + h(n)</a:t>
            </a:r>
            <a:endParaRPr lang="en-US" sz="1800" dirty="0"/>
          </a:p>
        </p:txBody>
      </p:sp>
      <p:sp>
        <p:nvSpPr>
          <p:cNvPr id="55" name="Text 49"/>
          <p:cNvSpPr/>
          <p:nvPr/>
        </p:nvSpPr>
        <p:spPr>
          <a:xfrm>
            <a:off x="3520440" y="228600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g(n)</a:t>
            </a:r>
            <a:r>
              <a:rPr lang="en-US" sz="8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actual cost from start   </a:t>
            </a:r>
            <a:r>
              <a:rPr lang="en-US" sz="85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h(n)</a:t>
            </a:r>
            <a:r>
              <a:rPr lang="en-US" sz="8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heuristic to goal</a:t>
            </a:r>
            <a:endParaRPr lang="en-US" sz="850" dirty="0"/>
          </a:p>
        </p:txBody>
      </p:sp>
      <p:sp>
        <p:nvSpPr>
          <p:cNvPr id="56" name="Shape 50"/>
          <p:cNvSpPr/>
          <p:nvPr/>
        </p:nvSpPr>
        <p:spPr>
          <a:xfrm>
            <a:off x="3520440" y="2606040"/>
            <a:ext cx="329184" cy="32918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7" name="Text 51"/>
          <p:cNvSpPr/>
          <p:nvPr/>
        </p:nvSpPr>
        <p:spPr>
          <a:xfrm>
            <a:off x="3520440" y="2606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100" dirty="0"/>
          </a:p>
        </p:txBody>
      </p:sp>
      <p:sp>
        <p:nvSpPr>
          <p:cNvPr id="58" name="Text 52"/>
          <p:cNvSpPr/>
          <p:nvPr/>
        </p:nvSpPr>
        <p:spPr>
          <a:xfrm>
            <a:off x="3913632" y="2642616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START into open list with f = h(start)</a:t>
            </a:r>
            <a:endParaRPr lang="en-US" sz="900" dirty="0"/>
          </a:p>
        </p:txBody>
      </p:sp>
      <p:sp>
        <p:nvSpPr>
          <p:cNvPr id="59" name="Shape 53"/>
          <p:cNvSpPr/>
          <p:nvPr/>
        </p:nvSpPr>
        <p:spPr>
          <a:xfrm>
            <a:off x="3520440" y="3026664"/>
            <a:ext cx="329184" cy="32918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0" name="Text 54"/>
          <p:cNvSpPr/>
          <p:nvPr/>
        </p:nvSpPr>
        <p:spPr>
          <a:xfrm>
            <a:off x="3520440" y="30266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100" dirty="0"/>
          </a:p>
        </p:txBody>
      </p:sp>
      <p:sp>
        <p:nvSpPr>
          <p:cNvPr id="61" name="Text 55"/>
          <p:cNvSpPr/>
          <p:nvPr/>
        </p:nvSpPr>
        <p:spPr>
          <a:xfrm>
            <a:off x="3913632" y="30632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node with lowest f(n) from priority queue</a:t>
            </a:r>
            <a:endParaRPr lang="en-US" sz="900" dirty="0"/>
          </a:p>
        </p:txBody>
      </p:sp>
      <p:sp>
        <p:nvSpPr>
          <p:cNvPr id="62" name="Shape 56"/>
          <p:cNvSpPr/>
          <p:nvPr/>
        </p:nvSpPr>
        <p:spPr>
          <a:xfrm>
            <a:off x="3520440" y="3447288"/>
            <a:ext cx="329184" cy="32918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3" name="Text 57"/>
          <p:cNvSpPr/>
          <p:nvPr/>
        </p:nvSpPr>
        <p:spPr>
          <a:xfrm>
            <a:off x="3520440" y="3447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100" dirty="0"/>
          </a:p>
        </p:txBody>
      </p:sp>
      <p:sp>
        <p:nvSpPr>
          <p:cNvPr id="64" name="Text 58"/>
          <p:cNvSpPr/>
          <p:nvPr/>
        </p:nvSpPr>
        <p:spPr>
          <a:xfrm>
            <a:off x="3913632" y="348386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node = GOAL → reconstruct path and return</a:t>
            </a:r>
            <a:endParaRPr lang="en-US" sz="900" dirty="0"/>
          </a:p>
        </p:txBody>
      </p:sp>
      <p:sp>
        <p:nvSpPr>
          <p:cNvPr id="65" name="Shape 59"/>
          <p:cNvSpPr/>
          <p:nvPr/>
        </p:nvSpPr>
        <p:spPr>
          <a:xfrm>
            <a:off x="3520440" y="3867912"/>
            <a:ext cx="329184" cy="32918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6" name="Text 60"/>
          <p:cNvSpPr/>
          <p:nvPr/>
        </p:nvSpPr>
        <p:spPr>
          <a:xfrm>
            <a:off x="3520440" y="3867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100" dirty="0"/>
          </a:p>
        </p:txBody>
      </p:sp>
      <p:sp>
        <p:nvSpPr>
          <p:cNvPr id="67" name="Text 61"/>
          <p:cNvSpPr/>
          <p:nvPr/>
        </p:nvSpPr>
        <p:spPr>
          <a:xfrm>
            <a:off x="3913632" y="390448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neighbour: compute new g, update if better</a:t>
            </a:r>
            <a:endParaRPr lang="en-US" sz="900" dirty="0"/>
          </a:p>
        </p:txBody>
      </p:sp>
      <p:sp>
        <p:nvSpPr>
          <p:cNvPr id="68" name="Shape 62"/>
          <p:cNvSpPr/>
          <p:nvPr/>
        </p:nvSpPr>
        <p:spPr>
          <a:xfrm>
            <a:off x="3520440" y="4288536"/>
            <a:ext cx="329184" cy="32918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9" name="Text 63"/>
          <p:cNvSpPr/>
          <p:nvPr/>
        </p:nvSpPr>
        <p:spPr>
          <a:xfrm>
            <a:off x="3520440" y="42885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100" dirty="0"/>
          </a:p>
        </p:txBody>
      </p:sp>
      <p:sp>
        <p:nvSpPr>
          <p:cNvPr id="70" name="Text 64"/>
          <p:cNvSpPr/>
          <p:nvPr/>
        </p:nvSpPr>
        <p:spPr>
          <a:xfrm>
            <a:off x="3913632" y="432511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blocked roads/nodes (disaster simulation)</a:t>
            </a:r>
            <a:endParaRPr lang="en-US" sz="900" dirty="0"/>
          </a:p>
        </p:txBody>
      </p:sp>
      <p:sp>
        <p:nvSpPr>
          <p:cNvPr id="71" name="Text 65"/>
          <p:cNvSpPr/>
          <p:nvPr/>
        </p:nvSpPr>
        <p:spPr>
          <a:xfrm>
            <a:off x="3520440" y="48006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HEURISTIC COMPARISON</a:t>
            </a:r>
            <a:endParaRPr lang="en-US" sz="1100" dirty="0"/>
          </a:p>
        </p:txBody>
      </p:sp>
      <p:sp>
        <p:nvSpPr>
          <p:cNvPr id="72" name="Shape 66"/>
          <p:cNvSpPr/>
          <p:nvPr/>
        </p:nvSpPr>
        <p:spPr>
          <a:xfrm>
            <a:off x="3520440" y="5074920"/>
            <a:ext cx="4754880" cy="3657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graphicFrame>
        <p:nvGraphicFramePr>
          <p:cNvPr id="73" name="Chart 0"/>
          <p:cNvGraphicFramePr/>
          <p:nvPr/>
        </p:nvGraphicFramePr>
        <p:xfrm>
          <a:off x="3520440" y="5138928"/>
          <a:ext cx="4754880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74" name="Text 67"/>
          <p:cNvSpPr/>
          <p:nvPr/>
        </p:nvSpPr>
        <p:spPr>
          <a:xfrm>
            <a:off x="8458200" y="10972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 RESULTS</a:t>
            </a:r>
            <a:endParaRPr lang="en-US" sz="1100" dirty="0"/>
          </a:p>
        </p:txBody>
      </p:sp>
      <p:sp>
        <p:nvSpPr>
          <p:cNvPr id="75" name="Shape 68"/>
          <p:cNvSpPr/>
          <p:nvPr/>
        </p:nvSpPr>
        <p:spPr>
          <a:xfrm>
            <a:off x="8458200" y="384048"/>
            <a:ext cx="3520440" cy="3657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6" name="Shape 69"/>
          <p:cNvSpPr/>
          <p:nvPr/>
        </p:nvSpPr>
        <p:spPr>
          <a:xfrm>
            <a:off x="8412480" y="466344"/>
            <a:ext cx="3520440" cy="2103120"/>
          </a:xfrm>
          <a:prstGeom prst="rect">
            <a:avLst/>
          </a:prstGeom>
          <a:solidFill>
            <a:srgbClr val="0D1117"/>
          </a:solidFill>
          <a:ln w="10160">
            <a:solidFill>
              <a:srgbClr val="2C3E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7" name="Shape 70"/>
          <p:cNvSpPr/>
          <p:nvPr/>
        </p:nvSpPr>
        <p:spPr>
          <a:xfrm>
            <a:off x="8549640" y="1188720"/>
            <a:ext cx="3337560" cy="0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</a:ln>
        </p:spPr>
      </p:sp>
      <p:sp>
        <p:nvSpPr>
          <p:cNvPr id="78" name="Shape 71"/>
          <p:cNvSpPr/>
          <p:nvPr/>
        </p:nvSpPr>
        <p:spPr>
          <a:xfrm>
            <a:off x="8549640" y="1737360"/>
            <a:ext cx="3337560" cy="0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</a:ln>
        </p:spPr>
      </p:sp>
      <p:sp>
        <p:nvSpPr>
          <p:cNvPr id="79" name="Shape 72"/>
          <p:cNvSpPr/>
          <p:nvPr/>
        </p:nvSpPr>
        <p:spPr>
          <a:xfrm>
            <a:off x="9235440" y="502920"/>
            <a:ext cx="0" cy="2011680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</a:ln>
        </p:spPr>
      </p:sp>
      <p:sp>
        <p:nvSpPr>
          <p:cNvPr id="80" name="Shape 73"/>
          <p:cNvSpPr/>
          <p:nvPr/>
        </p:nvSpPr>
        <p:spPr>
          <a:xfrm>
            <a:off x="10241280" y="502920"/>
            <a:ext cx="0" cy="2011680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</a:ln>
        </p:spPr>
      </p:sp>
      <p:sp>
        <p:nvSpPr>
          <p:cNvPr id="81" name="Shape 74"/>
          <p:cNvSpPr/>
          <p:nvPr/>
        </p:nvSpPr>
        <p:spPr>
          <a:xfrm>
            <a:off x="11064240" y="502920"/>
            <a:ext cx="0" cy="2011680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</a:ln>
        </p:spPr>
      </p:sp>
      <p:sp>
        <p:nvSpPr>
          <p:cNvPr id="82" name="Shape 75"/>
          <p:cNvSpPr/>
          <p:nvPr/>
        </p:nvSpPr>
        <p:spPr>
          <a:xfrm>
            <a:off x="8549640" y="2286000"/>
            <a:ext cx="3337560" cy="0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</a:ln>
        </p:spPr>
      </p:sp>
      <p:sp>
        <p:nvSpPr>
          <p:cNvPr id="83" name="Shape 76"/>
          <p:cNvSpPr/>
          <p:nvPr/>
        </p:nvSpPr>
        <p:spPr>
          <a:xfrm>
            <a:off x="8778240" y="502920"/>
            <a:ext cx="0" cy="2011680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</a:ln>
        </p:spPr>
      </p:sp>
      <p:sp>
        <p:nvSpPr>
          <p:cNvPr id="84" name="Shape 77"/>
          <p:cNvSpPr/>
          <p:nvPr/>
        </p:nvSpPr>
        <p:spPr>
          <a:xfrm>
            <a:off x="8778240" y="2286000"/>
            <a:ext cx="457200" cy="914"/>
          </a:xfrm>
          <a:prstGeom prst="line">
            <a:avLst/>
          </a:prstGeom>
          <a:noFill/>
          <a:ln w="44450">
            <a:solidFill>
              <a:srgbClr val="27AE60"/>
            </a:solidFill>
            <a:prstDash val="solid"/>
          </a:ln>
        </p:spPr>
      </p:sp>
      <p:sp>
        <p:nvSpPr>
          <p:cNvPr id="85" name="Shape 78"/>
          <p:cNvSpPr/>
          <p:nvPr/>
        </p:nvSpPr>
        <p:spPr>
          <a:xfrm>
            <a:off x="9235440" y="2286000"/>
            <a:ext cx="914" cy="0"/>
          </a:xfrm>
          <a:prstGeom prst="line">
            <a:avLst/>
          </a:prstGeom>
          <a:noFill/>
          <a:ln w="44450">
            <a:solidFill>
              <a:srgbClr val="27AE60"/>
            </a:solidFill>
            <a:prstDash val="solid"/>
          </a:ln>
        </p:spPr>
      </p:sp>
      <p:sp>
        <p:nvSpPr>
          <p:cNvPr id="86" name="Shape 79"/>
          <p:cNvSpPr/>
          <p:nvPr/>
        </p:nvSpPr>
        <p:spPr>
          <a:xfrm>
            <a:off x="9235440" y="1737360"/>
            <a:ext cx="1005840" cy="914"/>
          </a:xfrm>
          <a:prstGeom prst="line">
            <a:avLst/>
          </a:prstGeom>
          <a:noFill/>
          <a:ln w="44450">
            <a:solidFill>
              <a:srgbClr val="27AE60"/>
            </a:solidFill>
            <a:prstDash val="solid"/>
          </a:ln>
        </p:spPr>
      </p:sp>
      <p:sp>
        <p:nvSpPr>
          <p:cNvPr id="87" name="Shape 80"/>
          <p:cNvSpPr/>
          <p:nvPr/>
        </p:nvSpPr>
        <p:spPr>
          <a:xfrm>
            <a:off x="10241280" y="1737360"/>
            <a:ext cx="822960" cy="914"/>
          </a:xfrm>
          <a:prstGeom prst="line">
            <a:avLst/>
          </a:prstGeom>
          <a:noFill/>
          <a:ln w="44450">
            <a:solidFill>
              <a:srgbClr val="27AE60"/>
            </a:solidFill>
            <a:prstDash val="solid"/>
          </a:ln>
        </p:spPr>
      </p:sp>
      <p:sp>
        <p:nvSpPr>
          <p:cNvPr id="88" name="Shape 81"/>
          <p:cNvSpPr/>
          <p:nvPr/>
        </p:nvSpPr>
        <p:spPr>
          <a:xfrm>
            <a:off x="11064240" y="1737360"/>
            <a:ext cx="914" cy="0"/>
          </a:xfrm>
          <a:prstGeom prst="line">
            <a:avLst/>
          </a:prstGeom>
          <a:noFill/>
          <a:ln w="44450">
            <a:solidFill>
              <a:srgbClr val="27AE60"/>
            </a:solidFill>
            <a:prstDash val="solid"/>
          </a:ln>
        </p:spPr>
      </p:sp>
      <p:sp>
        <p:nvSpPr>
          <p:cNvPr id="89" name="Shape 82"/>
          <p:cNvSpPr/>
          <p:nvPr/>
        </p:nvSpPr>
        <p:spPr>
          <a:xfrm>
            <a:off x="11064240" y="1188720"/>
            <a:ext cx="640080" cy="914"/>
          </a:xfrm>
          <a:prstGeom prst="line">
            <a:avLst/>
          </a:prstGeom>
          <a:noFill/>
          <a:ln w="44450">
            <a:solidFill>
              <a:srgbClr val="27AE60"/>
            </a:solidFill>
            <a:prstDash val="solid"/>
          </a:ln>
        </p:spPr>
      </p:sp>
      <p:sp>
        <p:nvSpPr>
          <p:cNvPr id="90" name="Shape 83"/>
          <p:cNvSpPr/>
          <p:nvPr/>
        </p:nvSpPr>
        <p:spPr>
          <a:xfrm>
            <a:off x="8677656" y="2194560"/>
            <a:ext cx="201168" cy="201168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1" name="Text 84"/>
          <p:cNvSpPr/>
          <p:nvPr/>
        </p:nvSpPr>
        <p:spPr>
          <a:xfrm>
            <a:off x="8677656" y="21945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</a:t>
            </a:r>
            <a:endParaRPr lang="en-US" sz="700" dirty="0"/>
          </a:p>
        </p:txBody>
      </p:sp>
      <p:sp>
        <p:nvSpPr>
          <p:cNvPr id="92" name="Shape 85"/>
          <p:cNvSpPr/>
          <p:nvPr/>
        </p:nvSpPr>
        <p:spPr>
          <a:xfrm>
            <a:off x="11612880" y="1097280"/>
            <a:ext cx="201168" cy="201168"/>
          </a:xfrm>
          <a:prstGeom prst="ellipse">
            <a:avLst/>
          </a:prstGeom>
          <a:solidFill>
            <a:srgbClr val="E74C3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3" name="Text 86"/>
          <p:cNvSpPr/>
          <p:nvPr/>
        </p:nvSpPr>
        <p:spPr>
          <a:xfrm>
            <a:off x="11612880" y="10972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G</a:t>
            </a:r>
            <a:endParaRPr lang="en-US" sz="700" dirty="0"/>
          </a:p>
        </p:txBody>
      </p:sp>
      <p:sp>
        <p:nvSpPr>
          <p:cNvPr id="94" name="Text 87"/>
          <p:cNvSpPr/>
          <p:nvPr/>
        </p:nvSpPr>
        <p:spPr>
          <a:xfrm>
            <a:off x="8458200" y="251460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 err="1" smtClean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Qaskelen</a:t>
            </a:r>
            <a:r>
              <a:rPr lang="en-US" sz="750" i="1" dirty="0" smtClean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5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network — A* path visualized</a:t>
            </a:r>
            <a:endParaRPr lang="en-US" sz="750" dirty="0"/>
          </a:p>
        </p:txBody>
      </p:sp>
      <p:sp>
        <p:nvSpPr>
          <p:cNvPr id="95" name="Text 88"/>
          <p:cNvSpPr/>
          <p:nvPr/>
        </p:nvSpPr>
        <p:spPr>
          <a:xfrm>
            <a:off x="8458200" y="278892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RESULTS</a:t>
            </a:r>
            <a:endParaRPr lang="en-US" sz="1100" dirty="0"/>
          </a:p>
        </p:txBody>
      </p:sp>
      <p:sp>
        <p:nvSpPr>
          <p:cNvPr id="96" name="Shape 89"/>
          <p:cNvSpPr/>
          <p:nvPr/>
        </p:nvSpPr>
        <p:spPr>
          <a:xfrm>
            <a:off x="8458200" y="3063240"/>
            <a:ext cx="3520440" cy="3657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7" name="Shape 90"/>
          <p:cNvSpPr/>
          <p:nvPr/>
        </p:nvSpPr>
        <p:spPr>
          <a:xfrm>
            <a:off x="8458200" y="3127248"/>
            <a:ext cx="3520440" cy="420624"/>
          </a:xfrm>
          <a:prstGeom prst="rect">
            <a:avLst/>
          </a:prstGeom>
          <a:solidFill>
            <a:srgbClr val="16213E"/>
          </a:solidFill>
          <a:ln w="6350">
            <a:solidFill>
              <a:srgbClr val="2C3E50"/>
            </a:solidFill>
            <a:prstDash val="solid"/>
          </a:ln>
        </p:spPr>
      </p:sp>
      <p:sp>
        <p:nvSpPr>
          <p:cNvPr id="98" name="Shape 91"/>
          <p:cNvSpPr/>
          <p:nvPr/>
        </p:nvSpPr>
        <p:spPr>
          <a:xfrm>
            <a:off x="8458200" y="3127248"/>
            <a:ext cx="54864" cy="420624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99" name="Text 92"/>
          <p:cNvSpPr/>
          <p:nvPr/>
        </p:nvSpPr>
        <p:spPr>
          <a:xfrm>
            <a:off x="8558784" y="316382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~13 ms</a:t>
            </a:r>
            <a:endParaRPr lang="en-US" sz="1400" dirty="0"/>
          </a:p>
        </p:txBody>
      </p:sp>
      <p:sp>
        <p:nvSpPr>
          <p:cNvPr id="100" name="Text 93"/>
          <p:cNvSpPr/>
          <p:nvPr/>
        </p:nvSpPr>
        <p:spPr>
          <a:xfrm>
            <a:off x="8558784" y="335584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search time (A*)</a:t>
            </a:r>
            <a:endParaRPr lang="en-US" sz="800" dirty="0"/>
          </a:p>
        </p:txBody>
      </p:sp>
      <p:sp>
        <p:nvSpPr>
          <p:cNvPr id="101" name="Shape 94"/>
          <p:cNvSpPr/>
          <p:nvPr/>
        </p:nvSpPr>
        <p:spPr>
          <a:xfrm>
            <a:off x="8458200" y="3602736"/>
            <a:ext cx="3520440" cy="420624"/>
          </a:xfrm>
          <a:prstGeom prst="rect">
            <a:avLst/>
          </a:prstGeom>
          <a:solidFill>
            <a:srgbClr val="16213E"/>
          </a:solidFill>
          <a:ln w="6350">
            <a:solidFill>
              <a:srgbClr val="2C3E50"/>
            </a:solidFill>
            <a:prstDash val="solid"/>
          </a:ln>
        </p:spPr>
      </p:sp>
      <p:sp>
        <p:nvSpPr>
          <p:cNvPr id="102" name="Shape 95"/>
          <p:cNvSpPr/>
          <p:nvPr/>
        </p:nvSpPr>
        <p:spPr>
          <a:xfrm>
            <a:off x="8458200" y="3602736"/>
            <a:ext cx="54864" cy="42062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03" name="Text 96"/>
          <p:cNvSpPr/>
          <p:nvPr/>
        </p:nvSpPr>
        <p:spPr>
          <a:xfrm>
            <a:off x="8558784" y="36393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111</a:t>
            </a:r>
            <a:endParaRPr lang="en-US" sz="1400" dirty="0"/>
          </a:p>
        </p:txBody>
      </p:sp>
      <p:sp>
        <p:nvSpPr>
          <p:cNvPr id="104" name="Text 97"/>
          <p:cNvSpPr/>
          <p:nvPr/>
        </p:nvSpPr>
        <p:spPr>
          <a:xfrm>
            <a:off x="8558784" y="3831336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in typical path</a:t>
            </a:r>
            <a:endParaRPr lang="en-US" sz="800" dirty="0"/>
          </a:p>
        </p:txBody>
      </p:sp>
      <p:sp>
        <p:nvSpPr>
          <p:cNvPr id="105" name="Shape 98"/>
          <p:cNvSpPr/>
          <p:nvPr/>
        </p:nvSpPr>
        <p:spPr>
          <a:xfrm>
            <a:off x="8458200" y="4078224"/>
            <a:ext cx="3520440" cy="420624"/>
          </a:xfrm>
          <a:prstGeom prst="rect">
            <a:avLst/>
          </a:prstGeom>
          <a:solidFill>
            <a:srgbClr val="16213E"/>
          </a:solidFill>
          <a:ln w="6350">
            <a:solidFill>
              <a:srgbClr val="2C3E50"/>
            </a:solidFill>
            <a:prstDash val="solid"/>
          </a:ln>
        </p:spPr>
      </p:sp>
      <p:sp>
        <p:nvSpPr>
          <p:cNvPr id="106" name="Shape 99"/>
          <p:cNvSpPr/>
          <p:nvPr/>
        </p:nvSpPr>
        <p:spPr>
          <a:xfrm>
            <a:off x="8458200" y="4078224"/>
            <a:ext cx="54864" cy="420624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107" name="Text 100"/>
          <p:cNvSpPr/>
          <p:nvPr/>
        </p:nvSpPr>
        <p:spPr>
          <a:xfrm>
            <a:off x="8558784" y="41148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3,316</a:t>
            </a:r>
            <a:endParaRPr lang="en-US" sz="1400" dirty="0"/>
          </a:p>
        </p:txBody>
      </p:sp>
      <p:sp>
        <p:nvSpPr>
          <p:cNvPr id="108" name="Text 101"/>
          <p:cNvSpPr/>
          <p:nvPr/>
        </p:nvSpPr>
        <p:spPr>
          <a:xfrm>
            <a:off x="8558784" y="430682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explored (haversine)</a:t>
            </a:r>
            <a:endParaRPr lang="en-US" sz="800" dirty="0"/>
          </a:p>
        </p:txBody>
      </p:sp>
      <p:sp>
        <p:nvSpPr>
          <p:cNvPr id="109" name="Shape 102"/>
          <p:cNvSpPr/>
          <p:nvPr/>
        </p:nvSpPr>
        <p:spPr>
          <a:xfrm>
            <a:off x="8458200" y="4553712"/>
            <a:ext cx="3520440" cy="420624"/>
          </a:xfrm>
          <a:prstGeom prst="rect">
            <a:avLst/>
          </a:prstGeom>
          <a:solidFill>
            <a:srgbClr val="16213E"/>
          </a:solidFill>
          <a:ln w="6350">
            <a:solidFill>
              <a:srgbClr val="2C3E50"/>
            </a:solidFill>
            <a:prstDash val="solid"/>
          </a:ln>
        </p:spPr>
      </p:sp>
      <p:sp>
        <p:nvSpPr>
          <p:cNvPr id="110" name="Shape 103"/>
          <p:cNvSpPr/>
          <p:nvPr/>
        </p:nvSpPr>
        <p:spPr>
          <a:xfrm>
            <a:off x="8458200" y="4553712"/>
            <a:ext cx="54864" cy="420624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111" name="Text 104"/>
          <p:cNvSpPr/>
          <p:nvPr/>
        </p:nvSpPr>
        <p:spPr>
          <a:xfrm>
            <a:off x="8558784" y="459028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9,100</a:t>
            </a:r>
            <a:endParaRPr lang="en-US" sz="1400" dirty="0"/>
          </a:p>
        </p:txBody>
      </p:sp>
      <p:sp>
        <p:nvSpPr>
          <p:cNvPr id="112" name="Text 105"/>
          <p:cNvSpPr/>
          <p:nvPr/>
        </p:nvSpPr>
        <p:spPr>
          <a:xfrm>
            <a:off x="8558784" y="478231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explored (Dijkstra)</a:t>
            </a:r>
            <a:endParaRPr lang="en-US" sz="800" dirty="0"/>
          </a:p>
        </p:txBody>
      </p:sp>
      <p:sp>
        <p:nvSpPr>
          <p:cNvPr id="113" name="Text 106"/>
          <p:cNvSpPr/>
          <p:nvPr/>
        </p:nvSpPr>
        <p:spPr>
          <a:xfrm>
            <a:off x="8458200" y="504748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DISASTER SIMULATION</a:t>
            </a:r>
            <a:endParaRPr lang="en-US" sz="1100" dirty="0"/>
          </a:p>
        </p:txBody>
      </p:sp>
      <p:sp>
        <p:nvSpPr>
          <p:cNvPr id="114" name="Shape 107"/>
          <p:cNvSpPr/>
          <p:nvPr/>
        </p:nvSpPr>
        <p:spPr>
          <a:xfrm>
            <a:off x="8458200" y="5321808"/>
            <a:ext cx="3520440" cy="3657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5" name="Shape 108"/>
          <p:cNvSpPr/>
          <p:nvPr/>
        </p:nvSpPr>
        <p:spPr>
          <a:xfrm>
            <a:off x="8458200" y="5394960"/>
            <a:ext cx="201168" cy="2011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6" name="Text 109"/>
          <p:cNvSpPr/>
          <p:nvPr/>
        </p:nvSpPr>
        <p:spPr>
          <a:xfrm>
            <a:off x="8458200" y="53949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17" name="Text 110"/>
          <p:cNvSpPr/>
          <p:nvPr/>
        </p:nvSpPr>
        <p:spPr>
          <a:xfrm>
            <a:off x="8705088" y="541324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block X% of roads before search</a:t>
            </a:r>
            <a:endParaRPr lang="en-US" sz="850" dirty="0"/>
          </a:p>
        </p:txBody>
      </p:sp>
      <p:sp>
        <p:nvSpPr>
          <p:cNvPr id="118" name="Shape 111"/>
          <p:cNvSpPr/>
          <p:nvPr/>
        </p:nvSpPr>
        <p:spPr>
          <a:xfrm>
            <a:off x="8458200" y="5733288"/>
            <a:ext cx="201168" cy="2011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9" name="Text 112"/>
          <p:cNvSpPr/>
          <p:nvPr/>
        </p:nvSpPr>
        <p:spPr>
          <a:xfrm>
            <a:off x="8458200" y="57332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20" name="Text 113"/>
          <p:cNvSpPr/>
          <p:nvPr/>
        </p:nvSpPr>
        <p:spPr>
          <a:xfrm>
            <a:off x="8705088" y="5751576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Y% of intersections (nodes)</a:t>
            </a:r>
            <a:endParaRPr lang="en-US" sz="850" dirty="0"/>
          </a:p>
        </p:txBody>
      </p:sp>
      <p:sp>
        <p:nvSpPr>
          <p:cNvPr id="121" name="Shape 114"/>
          <p:cNvSpPr/>
          <p:nvPr/>
        </p:nvSpPr>
        <p:spPr>
          <a:xfrm>
            <a:off x="8458200" y="6071616"/>
            <a:ext cx="201168" cy="2011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2" name="Text 115"/>
          <p:cNvSpPr/>
          <p:nvPr/>
        </p:nvSpPr>
        <p:spPr>
          <a:xfrm>
            <a:off x="8458200" y="60716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23" name="Text 116"/>
          <p:cNvSpPr/>
          <p:nvPr/>
        </p:nvSpPr>
        <p:spPr>
          <a:xfrm>
            <a:off x="8705088" y="608990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auto-reroutes — reports unreachable if no path</a:t>
            </a:r>
            <a:endParaRPr lang="en-US" sz="850" dirty="0"/>
          </a:p>
        </p:txBody>
      </p:sp>
      <p:sp>
        <p:nvSpPr>
          <p:cNvPr id="124" name="Shape 117"/>
          <p:cNvSpPr/>
          <p:nvPr/>
        </p:nvSpPr>
        <p:spPr>
          <a:xfrm>
            <a:off x="8458200" y="6409944"/>
            <a:ext cx="201168" cy="2011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5" name="Text 118"/>
          <p:cNvSpPr/>
          <p:nvPr/>
        </p:nvSpPr>
        <p:spPr>
          <a:xfrm>
            <a:off x="8458200" y="64099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26" name="Text 119"/>
          <p:cNvSpPr/>
          <p:nvPr/>
        </p:nvSpPr>
        <p:spPr>
          <a:xfrm>
            <a:off x="8705088" y="642823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stats: explored nodes, cost, CPU time</a:t>
            </a:r>
            <a:endParaRPr lang="en-US" sz="850" dirty="0"/>
          </a:p>
        </p:txBody>
      </p:sp>
      <p:sp>
        <p:nvSpPr>
          <p:cNvPr id="127" name="Shape 120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8" name="Text 121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OpenStreetMap © ODbL  |  Tools: Python · Streamlit · Folium · A* Search  |  INF375 Artificial Intelligence  |  Almaty, Kazakhstan</a:t>
            </a:r>
            <a:endParaRPr lang="en-US" sz="650" dirty="0"/>
          </a:p>
        </p:txBody>
      </p:sp>
      <p:pic>
        <p:nvPicPr>
          <p:cNvPr id="129" name="Рисунок 1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4192" y="481037"/>
            <a:ext cx="3538728" cy="20928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285</Words>
  <Application>Microsoft Office PowerPoint</Application>
  <PresentationFormat>Широкоэкранный</PresentationFormat>
  <Paragraphs>65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Arial Black</vt:lpstr>
      <vt:lpstr>Calibri</vt:lpstr>
      <vt:lpstr>Consolas</vt:lpstr>
      <vt:lpstr>Office Theme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Disaster Zone Rescue Planner — INF375 Poster</dc:title>
  <dc:subject>PptxGenJS Presentation</dc:subject>
  <dc:creator>PptxGenJS</dc:creator>
  <cp:lastModifiedBy>amankosovmukagali1488@gmail.com</cp:lastModifiedBy>
  <cp:revision>3</cp:revision>
  <dcterms:created xsi:type="dcterms:W3CDTF">2026-04-26T14:36:50Z</dcterms:created>
  <dcterms:modified xsi:type="dcterms:W3CDTF">2026-04-26T14:43:29Z</dcterms:modified>
</cp:coreProperties>
</file>